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78992"/>
          </a:xfrm>
          <a:prstGeom prst="rect">
            <a:avLst/>
          </a:prstGeom>
          <a:solidFill>
            <a:srgbClr val="0B24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61520" cy="54864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B4A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BUSINESS-CASE CALCULATOR  </a:t>
            </a:r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Turn Modernization Choices into an Investment Case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75488" y="676656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D7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transparent Excel model for cost, savings, sizing, and payback conversations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0332720" y="310896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00B4A6"/>
          </a:solidFill>
          <a:ln/>
        </p:spPr>
      </p:sp>
      <p:sp>
        <p:nvSpPr>
          <p:cNvPr id="7" name="Text 5"/>
          <p:cNvSpPr/>
          <p:nvPr/>
        </p:nvSpPr>
        <p:spPr>
          <a:xfrm>
            <a:off x="10332720" y="3108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0B244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EXCEL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349240" cy="2697480"/>
          </a:xfrm>
          <a:prstGeom prst="rect">
            <a:avLst/>
          </a:prstGeom>
          <a:solidFill>
            <a:srgbClr val="EAF3FB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101600" dist="38100" dir="5400000">
              <a:srgbClr val="0B2447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91440" cy="2697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157276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57276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SQL ECONOMICS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97480" y="157276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 vs. Migrate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204825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on-premises renewal with Azure SQL </a:t>
            </a:r>
            <a:pPr indent="0" marL="0">
              <a:buNone/>
            </a:pPr>
            <a:r>
              <a:rPr lang="en-US" sz="15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using editable cost and discount assumptions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2505456"/>
            <a:ext cx="480060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25054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APPROACH   </a:t>
            </a:r>
            <a:pPr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Licensing + infrastructure + migration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2944368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KPI  </a:t>
            </a:r>
            <a:pPr indent="0" marL="0">
              <a:buNone/>
            </a:pPr>
            <a:r>
              <a:rPr lang="en-US" sz="125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result: $454K 3-year net savings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31520" y="3236976"/>
            <a:ext cx="48006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23697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Illustrative payback  </a:t>
            </a:r>
            <a:pPr indent="0" marL="0">
              <a:buNone/>
            </a:pPr>
            <a:r>
              <a:rPr lang="en-US" sz="1100" dirty="0">
                <a:solidFill>
                  <a:srgbClr val="334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5.4 months on a 64-core, 20-database scenario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55080" y="1371600"/>
            <a:ext cx="5349240" cy="2697480"/>
          </a:xfrm>
          <a:prstGeom prst="rect">
            <a:avLst/>
          </a:prstGeom>
          <a:solidFill>
            <a:srgbClr val="E6F7F4"/>
          </a:solidFill>
          <a:ln w="12700">
            <a:solidFill>
              <a:srgbClr val="00B4A6"/>
            </a:solidFill>
            <a:prstDash val="solid"/>
          </a:ln>
          <a:effectLst>
            <a:outerShdw sx="100000" sy="100000" kx="0" ky="0" algn="bl" rotWithShape="0" blurRad="101600" dist="38100" dir="5400000">
              <a:srgbClr val="0B2447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55080" y="1371600"/>
            <a:ext cx="91440" cy="2697480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21" name="Shape 19"/>
          <p:cNvSpPr/>
          <p:nvPr/>
        </p:nvSpPr>
        <p:spPr>
          <a:xfrm>
            <a:off x="6629400" y="1572768"/>
            <a:ext cx="2121408" cy="384048"/>
          </a:xfrm>
          <a:prstGeom prst="roundRect">
            <a:avLst>
              <a:gd name="adj" fmla="val 50000"/>
            </a:avLst>
          </a:prstGeom>
          <a:solidFill>
            <a:srgbClr val="00B4A6"/>
          </a:solidFill>
          <a:ln/>
        </p:spPr>
      </p:sp>
      <p:sp>
        <p:nvSpPr>
          <p:cNvPr id="22" name="Text 20"/>
          <p:cNvSpPr/>
          <p:nvPr/>
        </p:nvSpPr>
        <p:spPr>
          <a:xfrm>
            <a:off x="6629400" y="1572768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FABRIC ECONOMICS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887968" y="1572768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Synapse -&gt; Fabric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29400" y="204825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Fabric capacity by workload, SKU, and utilization </a:t>
            </a:r>
            <a:pPr indent="0" marL="0">
              <a:buNone/>
            </a:pPr>
            <a:r>
              <a:rPr lang="en-US" sz="15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committing to a target design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629400" y="2505456"/>
            <a:ext cx="480060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0B4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25054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A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APPROACH   </a:t>
            </a:r>
            <a:pPr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Workload cost -&gt; SKU -&gt; CU utilization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629400" y="2944368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4A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KPI  </a:t>
            </a:r>
            <a:pPr indent="0" marL="0">
              <a:buNone/>
            </a:pPr>
            <a:r>
              <a:rPr lang="en-US" sz="125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result: $231K annual savings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629400" y="3236976"/>
            <a:ext cx="48006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B4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323697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A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Scenario coverage  </a:t>
            </a:r>
            <a:pPr indent="0" marL="0">
              <a:buNone/>
            </a:pPr>
            <a:r>
              <a:rPr lang="en-US" sz="1100" dirty="0">
                <a:solidFill>
                  <a:srgbClr val="334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Warehouse, Spark, and data integration workloads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279392"/>
            <a:ext cx="5074920" cy="1691640"/>
          </a:xfrm>
          <a:prstGeom prst="rect">
            <a:avLst/>
          </a:prstGeom>
          <a:solidFill>
            <a:srgbClr val="F3F7FB"/>
          </a:solidFill>
          <a:ln w="12700">
            <a:solidFill>
              <a:srgbClr val="D7E3E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279392"/>
            <a:ext cx="91440" cy="1691640"/>
          </a:xfrm>
          <a:prstGeom prst="rect">
            <a:avLst/>
          </a:prstGeom>
          <a:solidFill>
            <a:srgbClr val="0B2447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438912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B244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THE MODEL CONNECTS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04672" y="4700016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34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inventory and in-scope workload count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34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Current run cost, Azure benefits, and reservations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34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SKU, CU-hour price, and expected utilization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 updates automatically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715000" y="4279392"/>
            <a:ext cx="2148840" cy="1691640"/>
          </a:xfrm>
          <a:prstGeom prst="roundRect">
            <a:avLst>
              <a:gd name="adj" fmla="val 5405"/>
            </a:avLst>
          </a:prstGeom>
          <a:solidFill>
            <a:srgbClr val="0B2447"/>
          </a:solidFill>
          <a:ln/>
          <a:effectLst>
            <a:outerShdw sx="100000" sy="100000" kx="0" ky="0" algn="bl" rotWithShape="0" blurRad="101600" dist="38100" dir="5400000">
              <a:srgbClr val="0B2447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715000" y="4279392"/>
            <a:ext cx="2148840" cy="54864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36" name="Text 34"/>
          <p:cNvSpPr/>
          <p:nvPr/>
        </p:nvSpPr>
        <p:spPr>
          <a:xfrm>
            <a:off x="5715000" y="44805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5715000" y="488289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Editable Excel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5715000" y="523036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connected worksheets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852160" y="550468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7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Inputs | SQL TCO | Fabric | Workloads | Sensitivity | Summary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046720" y="4279392"/>
            <a:ext cx="3657600" cy="1691640"/>
          </a:xfrm>
          <a:prstGeom prst="rect">
            <a:avLst/>
          </a:prstGeom>
          <a:solidFill>
            <a:srgbClr val="0B2447"/>
          </a:solidFill>
          <a:ln/>
        </p:spPr>
      </p:sp>
      <p:sp>
        <p:nvSpPr>
          <p:cNvPr id="41" name="Shape 39"/>
          <p:cNvSpPr/>
          <p:nvPr/>
        </p:nvSpPr>
        <p:spPr>
          <a:xfrm>
            <a:off x="8046720" y="4279392"/>
            <a:ext cx="91440" cy="1691640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42" name="Text 40"/>
          <p:cNvSpPr/>
          <p:nvPr/>
        </p:nvSpPr>
        <p:spPr>
          <a:xfrm>
            <a:off x="8302752" y="4389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B4A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DISCOVERY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8430768" y="4736592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→"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every yellow placeholder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→"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pricing, sizing, and support assumptions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→"/>
            </a:pPr>
            <a:r>
              <a:rPr lang="en-US" sz="1200" b="1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the scenario with finance and engineering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57200" y="608990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outputs only  |  Replace yellow cells with validated customer inputs and current Azure pricing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Estate Modernization Business-Case Calculator</dc:title>
  <dc:subject>PptxGenJS Presentation</dc:subject>
  <dc:creator>pptxmotions</dc:creator>
  <cp:lastModifiedBy>pptxmotions</cp:lastModifiedBy>
  <cp:revision>1</cp:revision>
  <dcterms:created xsi:type="dcterms:W3CDTF">2026-09-20T10:49:40Z</dcterms:created>
  <dcterms:modified xsi:type="dcterms:W3CDTF">2026-09-20T10:49:40Z</dcterms:modified>
</cp:coreProperties>
</file>